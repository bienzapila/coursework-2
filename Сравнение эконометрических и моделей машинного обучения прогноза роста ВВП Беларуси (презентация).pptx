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E4D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"/>
            <a:ext cx="82296" cy="5061204"/>
          </a:xfrm>
          <a:prstGeom prst="rect">
            <a:avLst/>
          </a:prstGeom>
          <a:solidFill>
            <a:srgbClr val="0F9D7B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01168"/>
            <a:ext cx="5486400" cy="256032"/>
          </a:xfrm>
          <a:prstGeom prst="roundRect">
            <a:avLst>
              <a:gd name="adj" fmla="val 14286"/>
            </a:avLst>
          </a:prstGeom>
          <a:solidFill>
            <a:srgbClr val="1E4D8C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СЕКЦИЯ: СТАТИСТИКО-МАТЕМАТИЧЕСКИЕ И ЭКОНОМЕТРИЧЕСКИЕ МЕТОДЫ В ЭКОНОМИКЕ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Применение методов машинного обучения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1155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(Random Forest) для краткосрочного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66420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прогнозирования ВВП Беларуси: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221284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с линейной регрессией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11480" y="2852928"/>
            <a:ext cx="8321040" cy="0"/>
          </a:xfrm>
          <a:prstGeom prst="line">
            <a:avLst/>
          </a:prstGeom>
          <a:noFill/>
          <a:ln w="15240">
            <a:solidFill>
              <a:srgbClr val="E2EA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96265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Жуковский Антон Владимирович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студент 2 курса, специальность «Экономика»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28269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Научный руководитель: </a:t>
            </a:r>
            <a:pPr indent="0" marL="0">
              <a:buNone/>
            </a:pPr>
            <a:r>
              <a:rPr lang="en-US" sz="1200" b="1" dirty="0">
                <a:solidFill>
                  <a:srgbClr val="1A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проф., д.ф.-м.н. Ковалев М.М.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60273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БГУ, Экономический факультет   ·   </a:t>
            </a:r>
            <a:pPr indent="0" marL="0">
              <a:buNone/>
            </a:pPr>
            <a:r>
              <a:rPr lang="en-US" sz="12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мая 2026 г.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E4D8C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" y="4873752"/>
            <a:ext cx="877824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Белорусский государственный университет  ·  Кафедра аналитической экономики и эконометрики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работы и актуальность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0"/>
          </a:xfrm>
          <a:prstGeom prst="line">
            <a:avLst/>
          </a:prstGeom>
          <a:noFill/>
          <a:ln w="15240">
            <a:solidFill>
              <a:srgbClr val="E2EA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41248"/>
            <a:ext cx="83210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1E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C0CCE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841248"/>
            <a:ext cx="164592" cy="1078992"/>
          </a:xfrm>
          <a:prstGeom prst="roundRect">
            <a:avLst>
              <a:gd name="adj" fmla="val 44444"/>
            </a:avLst>
          </a:prstGeom>
          <a:solidFill>
            <a:srgbClr val="1E4D8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9611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Сравнительный анализ точности эконометрической модели (МНК) и алгоритма Random Forest при прогнозировании темпов прироста реального ВВП Республики Беларусь — и оценка того, даёт ли ML реальное преимущество на белорусских данных.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2084832"/>
            <a:ext cx="2633472" cy="269748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C0CCE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2084832"/>
            <a:ext cx="2633472" cy="64008"/>
          </a:xfrm>
          <a:prstGeom prst="roundRect">
            <a:avLst>
              <a:gd name="adj" fmla="val 114286"/>
            </a:avLst>
          </a:prstGeom>
          <a:solidFill>
            <a:srgbClr val="1E4D8C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2231136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ВВП —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фундаментальная задача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" y="2852928"/>
            <a:ext cx="23042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прогноза критична для бюджетного планирования и монетарной политики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27832" y="2084832"/>
            <a:ext cx="2633472" cy="269748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C0CCE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27832" y="2084832"/>
            <a:ext cx="2633472" cy="64008"/>
          </a:xfrm>
          <a:prstGeom prst="roundRect">
            <a:avLst>
              <a:gd name="adj" fmla="val 114286"/>
            </a:avLst>
          </a:prstGeom>
          <a:solidFill>
            <a:srgbClr val="0F9D7B"/>
          </a:solidFill>
          <a:ln/>
        </p:spPr>
      </p:sp>
      <p:sp>
        <p:nvSpPr>
          <p:cNvPr id="14" name="Text 12"/>
          <p:cNvSpPr/>
          <p:nvPr/>
        </p:nvSpPr>
        <p:spPr>
          <a:xfrm>
            <a:off x="3392424" y="2231136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Беларусь — особый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92424" y="2852928"/>
            <a:ext cx="23042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 доля государства, зависимость от внешней конъюнктуры: стандартные модели могут давать сбои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44184" y="2084832"/>
            <a:ext cx="2633472" cy="269748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C0CCE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44184" y="2084832"/>
            <a:ext cx="2633472" cy="64008"/>
          </a:xfrm>
          <a:prstGeom prst="roundRect">
            <a:avLst>
              <a:gd name="adj" fmla="val 114286"/>
            </a:avLst>
          </a:prstGeom>
          <a:solidFill>
            <a:srgbClr val="E8611A"/>
          </a:solidFill>
          <a:ln/>
        </p:spPr>
      </p:sp>
      <p:sp>
        <p:nvSpPr>
          <p:cNvPr id="18" name="Text 16"/>
          <p:cNvSpPr/>
          <p:nvPr/>
        </p:nvSpPr>
        <p:spPr>
          <a:xfrm>
            <a:off x="6208776" y="2231136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в макроэкономике: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населённость ещё мала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08776" y="2852928"/>
            <a:ext cx="23042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Методы машинного обучения внедряются в макропрогнозирование лишь в последние годы — нужна апробация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48463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Данные: World Bank WDI / WGI, Heritage Foundation  ·  Период: 2001–2024 гг.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Методология: два подхода к прогнозированию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0"/>
          </a:xfrm>
          <a:prstGeom prst="line">
            <a:avLst/>
          </a:prstGeom>
          <a:noFill/>
          <a:ln w="15240">
            <a:solidFill>
              <a:srgbClr val="E2EA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41248"/>
            <a:ext cx="40233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C0CCE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914400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1E4D8C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9144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ЛИНЕЙНАЯ РЕГРЕССИЯ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1261872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наименьших квадратов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627632"/>
            <a:ext cx="3712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β₀ + β₁X₁ + … + βₖXₖ + εₜ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011680"/>
            <a:ext cx="3712464" cy="0"/>
          </a:xfrm>
          <a:prstGeom prst="line">
            <a:avLst/>
          </a:prstGeom>
          <a:noFill/>
          <a:ln w="12700">
            <a:solidFill>
              <a:srgbClr val="E2EA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103120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параметров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359152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МНК — BLUE при выполнении условий Гаусса–Маркова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66928" y="2761488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Требования к данным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3017520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Нормальность ε, гомоскедастичность, нет мультиколлинеарности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66928" y="3419856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Интерпретируемость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3675888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β имеет прямой экономический смысл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" y="4078224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Отбор переменных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4334256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Корреляционный анализ + исключение мультиколлинеарных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841248"/>
            <a:ext cx="40233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C0CCE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64608" y="914400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0F9D7B">
              <a:alpha val="1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864608" y="9144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0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864608" y="1261872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Ансамбль деревьев решений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64608" y="1627632"/>
            <a:ext cx="3712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â(x) = (1/k) Σ bᵢ(x)  —  среднее по k деревьям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64608" y="2011680"/>
            <a:ext cx="3712464" cy="0"/>
          </a:xfrm>
          <a:prstGeom prst="line">
            <a:avLst/>
          </a:prstGeom>
          <a:noFill/>
          <a:ln w="12700">
            <a:solidFill>
              <a:srgbClr val="E2EA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2103120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Бутстрап + рандомизация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64608" y="2359152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дерево на псевдовыборке; l = ⌊m/3⌋ признаков на сплит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64608" y="2761488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ограничений МНК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64608" y="3017520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требует нормальности, устойчив к мультиколлинеарности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64608" y="3419856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9 переменных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64608" y="3675888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Переменные не отбираются — алгоритм сам оценит важность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64608" y="4078224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MDI-важность признаков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64608" y="4334256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Decrease in Impurity — вклад каждого фактора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178808" y="2194560"/>
            <a:ext cx="713232" cy="7132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C0CCE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178808" y="21945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Данные: реальный прирост ВВП Беларуси, 2000–2024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0"/>
          </a:xfrm>
          <a:prstGeom prst="line">
            <a:avLst/>
          </a:prstGeom>
          <a:noFill/>
          <a:ln w="15240">
            <a:solidFill>
              <a:srgbClr val="E2EAF4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22960"/>
            <a:ext cx="832104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3886200"/>
            <a:ext cx="2633472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C0CCE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76072" y="393192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508760" y="4114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года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76072" y="4434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 наблюдений, 9 факторов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27832" y="3886200"/>
            <a:ext cx="2633472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C0CCE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392424" y="393192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325112" y="4114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шока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392424" y="4434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 / 2015 / 2022 — внешние причины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044184" y="3886200"/>
            <a:ext cx="2633472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C0CCE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08776" y="393192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t−1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7141464" y="4114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лаг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208776" y="4434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переменные — предыдущий год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11480" y="48463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переменная — реальный прирост ВВП (% к пред. году)  ·  World Bank WDI: NY.GDP.MKTP.KD.ZG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Линейная регрессия: спецификация и экономический смысл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0"/>
          </a:xfrm>
          <a:prstGeom prst="line">
            <a:avLst/>
          </a:prstGeom>
          <a:noFill/>
          <a:ln w="15240">
            <a:solidFill>
              <a:srgbClr val="E2EA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41248"/>
            <a:ext cx="40233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C0CCE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914400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Финальное уравнение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GDP_Growthₜ = −19,19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517904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+ 1,00 · GovExpₜ₋₁  +  0,36 · TaxRevₜ₋₁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1920240"/>
            <a:ext cx="3712464" cy="0"/>
          </a:xfrm>
          <a:prstGeom prst="line">
            <a:avLst/>
          </a:prstGeom>
          <a:noFill/>
          <a:ln w="12700">
            <a:solidFill>
              <a:srgbClr val="E2EA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984248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 МНК — выполнены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2304288"/>
            <a:ext cx="3712464" cy="36576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3042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E(ε) = 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42032" y="2304288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остатков ≈ 10⁻¹⁴ ✓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2688336"/>
            <a:ext cx="3712464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68833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автокорреляции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42032" y="268833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Дарбин–Уотсон = 2,174 ∈ [1,55; 2,45] ✓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" y="3072384"/>
            <a:ext cx="3712464" cy="36576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307238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Гомоскедастичность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42032" y="3072384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графику остатков — нет паттерна ✓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3456432"/>
            <a:ext cx="3712464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34564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Нормальность ε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42032" y="3456432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Жарк–Бера: p = 0,168 &gt; 0,05 ✓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" y="3840480"/>
            <a:ext cx="3712464" cy="36576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" y="3840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мультиколл.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542032" y="384048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r(GovExp, TaxRev) = 0,37 — слабая ✓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66928" y="4224528"/>
            <a:ext cx="3712464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" y="42245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Значимость модели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542032" y="4224528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F-критерий: p = 0,0001 &lt; 0,01 ✓✓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841248"/>
            <a:ext cx="40233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C0CCE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64608" y="914400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E8611A">
              <a:alpha val="1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64608" y="914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E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ЭКОНОМИЧЕСКИЙ СМЫСЛ КОЭФФИЦИЕНТОВ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864608" y="1261872"/>
            <a:ext cx="3712464" cy="1481328"/>
          </a:xfrm>
          <a:prstGeom prst="roundRect">
            <a:avLst>
              <a:gd name="adj" fmla="val 3704"/>
            </a:avLst>
          </a:prstGeom>
          <a:solidFill>
            <a:srgbClr val="FFF7F2"/>
          </a:solidFill>
          <a:ln w="12700">
            <a:solidFill>
              <a:srgbClr val="F0CAB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10912" y="1335024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β₁ = 1,00  ·  Гос. расходы % ВВП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10912" y="1655064"/>
            <a:ext cx="341985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Беларусь — государственно-ориентированная экономика: госсектор является основным генератором экономической активности. Высокая доля расходов в t-1 отражает интенсивность государственного стимулирования, инерция которого продолжается в следующем периоде.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64608" y="2834640"/>
            <a:ext cx="3712464" cy="1481328"/>
          </a:xfrm>
          <a:prstGeom prst="roundRect">
            <a:avLst>
              <a:gd name="adj" fmla="val 3704"/>
            </a:avLst>
          </a:prstGeom>
          <a:solidFill>
            <a:srgbClr val="F0F8F5"/>
          </a:solidFill>
          <a:ln w="12700">
            <a:solidFill>
              <a:srgbClr val="A8D8C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10912" y="2907792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β₂ = 0,36  ·  Налоговые поступления % ВВП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10912" y="3218688"/>
            <a:ext cx="341985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Налоговые поступления — проциклический показатель: экономический подъём в t-1 расширяет налоговую базу, поступления растут. Положительный коэффициент отражает инерцию экономического цикла — хорошо было в прошлом году, хорошо и в этом.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11480" y="48463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Переменные с лагом t−1: фискальные и институциональные факторы влияют на ВВП с задержкой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Регрессия МНК: результаты и где модель ошибается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0"/>
          </a:xfrm>
          <a:prstGeom prst="line">
            <a:avLst/>
          </a:prstGeom>
          <a:noFill/>
          <a:ln w="15240">
            <a:solidFill>
              <a:srgbClr val="E2EAF4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41248"/>
            <a:ext cx="5806440" cy="2331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841248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C0CCE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537960" y="896112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0,571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699248" y="896112"/>
            <a:ext cx="896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объяснено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дисперсии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400800" y="1645920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C0CCE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37960" y="170078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2,845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7699248" y="1700784"/>
            <a:ext cx="896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п.п.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средн. ошибка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400800" y="2450592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C0CCE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37960" y="2505456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0,872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7699248" y="2505456"/>
            <a:ext cx="896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sMAPE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симм.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отн. ошибка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11480" y="325526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Остатки модели — где ошибки наибольшие: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547872"/>
            <a:ext cx="5806440" cy="135331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400800" y="3255264"/>
            <a:ext cx="2331720" cy="1645920"/>
          </a:xfrm>
          <a:prstGeom prst="roundRect">
            <a:avLst>
              <a:gd name="adj" fmla="val 4444"/>
            </a:avLst>
          </a:prstGeom>
          <a:solidFill>
            <a:srgbClr val="FFF4F4"/>
          </a:solidFill>
          <a:ln w="12700">
            <a:solidFill>
              <a:srgbClr val="F0CABB"/>
            </a:solidFill>
            <a:prstDash val="solid"/>
          </a:ln>
          <a:effectLst>
            <a:outerShdw sx="100000" sy="100000" kx="0" ky="0" algn="bl" rotWithShape="0" blurRad="101600" dist="38100" dir="8100000">
              <a:srgbClr val="C0CCE0">
                <a:alpha val="1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537960" y="3328416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главных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отклонения: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537960" y="385876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7132320" y="385876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Мировой финансовый кризис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6537960" y="416966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7132320" y="416966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Девальвация — шок от РФ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537960" y="448056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7132320" y="448056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Санкционный шок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важность признаков и закон Оукена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0"/>
          </a:xfrm>
          <a:prstGeom prst="line">
            <a:avLst/>
          </a:prstGeom>
          <a:noFill/>
          <a:ln w="15240">
            <a:solidFill>
              <a:srgbClr val="E2EAF4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41248"/>
            <a:ext cx="4160520" cy="288036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841248"/>
            <a:ext cx="3977640" cy="221284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754880" y="3163824"/>
            <a:ext cx="3977640" cy="1481328"/>
          </a:xfrm>
          <a:prstGeom prst="roundRect">
            <a:avLst>
              <a:gd name="adj" fmla="val 4938"/>
            </a:avLst>
          </a:prstGeom>
          <a:solidFill>
            <a:srgbClr val="EBF8F4"/>
          </a:solidFill>
          <a:ln w="12700">
            <a:solidFill>
              <a:srgbClr val="A8D8C8"/>
            </a:solidFill>
            <a:prstDash val="solid"/>
          </a:ln>
          <a:effectLst>
            <a:outerShdw sx="100000" sy="100000" kx="0" ky="0" algn="bl" rotWithShape="0" blurRad="101600" dist="38100" dir="8100000">
              <a:srgbClr val="C0CCE0">
                <a:alpha val="18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4919472" y="3236976"/>
            <a:ext cx="3648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«самостоятельно открыл» закон Оукена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919472" y="3611880"/>
            <a:ext cx="3648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Безработица (26%) — сильнейший предиктор. Это прямое следствие закона Оукена: рост безработицы в t-1 сигнализирует о недоиспользовании трудовых ресурсов → слабый рост ВВП в t. Алгоритм нашёл эту связь без знания теории.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МНК был вынужден исключить безработицу из-за мультиколлинеарности с WGI — и потерял ключевой предиктор.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411480" y="3858768"/>
            <a:ext cx="1225296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C0CCE0">
                <a:alpha val="1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84632" y="3931920"/>
            <a:ext cx="1078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0,725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484632" y="445312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1801368" y="3858768"/>
            <a:ext cx="1225296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C0CCE0">
                <a:alpha val="1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1874520" y="3931920"/>
            <a:ext cx="1078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2,280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1874520" y="445312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191256" y="3858768"/>
            <a:ext cx="1225296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C0CCE0">
                <a:alpha val="1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3264408" y="3931920"/>
            <a:ext cx="1078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0,687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3264408" y="445312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sMAPE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Сопоставление моделей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0"/>
          </a:xfrm>
          <a:prstGeom prst="line">
            <a:avLst/>
          </a:prstGeom>
          <a:noFill/>
          <a:ln w="15240">
            <a:solidFill>
              <a:srgbClr val="E2EA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786384"/>
            <a:ext cx="8321040" cy="438912"/>
          </a:xfrm>
          <a:prstGeom prst="roundRect">
            <a:avLst>
              <a:gd name="adj" fmla="val 12500"/>
            </a:avLst>
          </a:prstGeom>
          <a:solidFill>
            <a:srgbClr val="EBF5FF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81381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Акцент на полной выборке (2001–2024): </a:t>
            </a:r>
            <a:pPr indent="0" marL="0">
              <a:buNone/>
            </a:pPr>
            <a:r>
              <a:rPr lang="en-US" sz="1000" dirty="0">
                <a:solidFill>
                  <a:srgbClr val="1A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разбиение train/test дало нестабильные результаты — тест-период содержит лишь n=8 наблюдений и три структурных шока, что делает оценку статистически ненадёжной.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16736"/>
          <a:ext cx="8321040" cy="1828800"/>
        </p:xfrm>
        <a:graphic>
          <a:graphicData uri="http://schemas.openxmlformats.org/drawingml/2006/table">
            <a:tbl>
              <a:tblPr/>
              <a:tblGrid>
                <a:gridCol w="1371600"/>
                <a:gridCol w="1737360"/>
                <a:gridCol w="1737360"/>
                <a:gridCol w="1737360"/>
                <a:gridCol w="173736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Метрика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МНК — полн. выб.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— полн. выб.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D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МНК — тест 2018–24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90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— тест 2018–24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90A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1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 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4D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9D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0,725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−0,279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−0,054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1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 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4D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9D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2,280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1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sMAPE  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4D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9D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0,687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4D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0,791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11480" y="329184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C0CCE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6928" y="3364992"/>
            <a:ext cx="2011680" cy="256032"/>
          </a:xfrm>
          <a:prstGeom prst="roundRect">
            <a:avLst>
              <a:gd name="adj" fmla="val 14286"/>
            </a:avLst>
          </a:prstGeom>
          <a:solidFill>
            <a:srgbClr val="C0392B">
              <a:alpha val="12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66928" y="33649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ТЕСТ НЕСТАБИЛЕН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66928" y="3694176"/>
            <a:ext cx="362102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8 наблюдений</a:t>
            </a:r>
            <a:pPr indent="0" marL="0">
              <a:buNone/>
            </a:pPr>
            <a:r>
              <a:rPr lang="en-US" sz="1000" dirty="0">
                <a:solidFill>
                  <a:srgbClr val="1A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тест-периоде статистически недостаточно. R² &lt; 0 у обеих моделей означает: константа-среднее предсказывает лучше, чем модель. Это математически закономерно при малой выборке, насыщенной внешними шоками (COVID-2020, санкции-2022).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26280" y="3291840"/>
            <a:ext cx="4206240" cy="1554480"/>
          </a:xfrm>
          <a:prstGeom prst="roundRect">
            <a:avLst>
              <a:gd name="adj" fmla="val 4706"/>
            </a:avLst>
          </a:prstGeom>
          <a:solidFill>
            <a:srgbClr val="F0FBF7"/>
          </a:solidFill>
          <a:ln w="12700">
            <a:solidFill>
              <a:srgbClr val="0F9D7B"/>
            </a:solidFill>
            <a:prstDash val="solid"/>
          </a:ln>
          <a:effectLst>
            <a:outerShdw sx="100000" sy="100000" kx="0" ky="0" algn="bl" rotWithShape="0" blurRad="101600" dist="38100" dir="8100000">
              <a:srgbClr val="C0CCE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81728" y="3364992"/>
            <a:ext cx="2286000" cy="256032"/>
          </a:xfrm>
          <a:prstGeom prst="roundRect">
            <a:avLst>
              <a:gd name="adj" fmla="val 14286"/>
            </a:avLst>
          </a:prstGeom>
          <a:solidFill>
            <a:srgbClr val="0F9D7B">
              <a:alpha val="12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4681728" y="33649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0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ПО СОПОСТАВЛЕНИЮ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681728" y="3694176"/>
            <a:ext cx="38953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точнее на полной выборке по всем трём метрикам.</a:t>
            </a:r>
            <a:pPr indent="0" marL="0">
              <a:buNone/>
            </a:pPr>
            <a:r>
              <a:rPr lang="en-US" sz="1000" dirty="0">
                <a:solidFill>
                  <a:srgbClr val="1A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Разрыв умеренный — R² 0,725 vs 0,571. Оба подхода плохо справляются с внешними шоками: три главных ошибки в 2009, 2015, 2022 совпадают у обеих моделей — это системное ограничение набора данных.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E4D8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8321040" cy="0"/>
          </a:xfrm>
          <a:prstGeom prst="line">
            <a:avLst/>
          </a:prstGeom>
          <a:noFill/>
          <a:ln w="15240">
            <a:solidFill>
              <a:srgbClr val="E2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41248"/>
            <a:ext cx="2633472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C0CCE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841248"/>
            <a:ext cx="2633472" cy="64008"/>
          </a:xfrm>
          <a:prstGeom prst="roundRect">
            <a:avLst>
              <a:gd name="adj" fmla="val 114286"/>
            </a:avLst>
          </a:prstGeom>
          <a:solidFill>
            <a:srgbClr val="0F9D7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96926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298448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точнее на полной выборке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1709928"/>
            <a:ext cx="2359152" cy="0"/>
          </a:xfrm>
          <a:prstGeom prst="line">
            <a:avLst/>
          </a:prstGeom>
          <a:noFill/>
          <a:ln w="12700">
            <a:solidFill>
              <a:srgbClr val="E2EA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73936"/>
            <a:ext cx="235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всем трём метрикам: R² 0,725 vs 0,571, RMSE 2,28 vs 2,85. На полном горизонте 2001–2024 ML-подход превосходит МНК.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27832" y="841248"/>
            <a:ext cx="2633472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C0CCE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7832" y="841248"/>
            <a:ext cx="2633472" cy="64008"/>
          </a:xfrm>
          <a:prstGeom prst="roundRect">
            <a:avLst>
              <a:gd name="adj" fmla="val 114286"/>
            </a:avLst>
          </a:prstGeom>
          <a:solidFill>
            <a:srgbClr val="1E4D8C"/>
          </a:solidFill>
          <a:ln/>
        </p:spPr>
      </p:sp>
      <p:sp>
        <p:nvSpPr>
          <p:cNvPr id="13" name="Text 11"/>
          <p:cNvSpPr/>
          <p:nvPr/>
        </p:nvSpPr>
        <p:spPr>
          <a:xfrm>
            <a:off x="3364992" y="96926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64992" y="1298448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Госрасходы — индикатор интенсивности стимулирования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64992" y="1709928"/>
            <a:ext cx="2359152" cy="0"/>
          </a:xfrm>
          <a:prstGeom prst="line">
            <a:avLst/>
          </a:prstGeom>
          <a:noFill/>
          <a:ln w="12700">
            <a:solidFill>
              <a:srgbClr val="E2EA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1773936"/>
            <a:ext cx="235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β₁=1,00 отражает государственно-ориентированный характер белорусской экономики: госсектор задаёт темп роста с инерцией на год вперёд.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44184" y="841248"/>
            <a:ext cx="2633472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C0CCE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44184" y="841248"/>
            <a:ext cx="2633472" cy="64008"/>
          </a:xfrm>
          <a:prstGeom prst="roundRect">
            <a:avLst>
              <a:gd name="adj" fmla="val 114286"/>
            </a:avLst>
          </a:prstGeom>
          <a:solidFill>
            <a:srgbClr val="E8611A"/>
          </a:solidFill>
          <a:ln/>
        </p:spPr>
      </p:sp>
      <p:sp>
        <p:nvSpPr>
          <p:cNvPr id="19" name="Text 17"/>
          <p:cNvSpPr/>
          <p:nvPr/>
        </p:nvSpPr>
        <p:spPr>
          <a:xfrm>
            <a:off x="6181344" y="96926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81344" y="1298448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Налоги — прокси экономической инерции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81344" y="1709928"/>
            <a:ext cx="2359152" cy="0"/>
          </a:xfrm>
          <a:prstGeom prst="line">
            <a:avLst/>
          </a:prstGeom>
          <a:noFill/>
          <a:ln w="12700">
            <a:solidFill>
              <a:srgbClr val="E2EA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81344" y="1773936"/>
            <a:ext cx="235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β₂=0,36 работает через проциклическую природу налоговой базы: хорошая собираемость в t-1 сигнализирует о подъёме, который продолжается в 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2779776"/>
            <a:ext cx="2633472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C0CCE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2779776"/>
            <a:ext cx="2633472" cy="64008"/>
          </a:xfrm>
          <a:prstGeom prst="roundRect">
            <a:avLst>
              <a:gd name="adj" fmla="val 114286"/>
            </a:avLst>
          </a:prstGeom>
          <a:solidFill>
            <a:srgbClr val="0F9D7B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90779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8640" y="3236976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нашёл закон Оукена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3648456"/>
            <a:ext cx="2359152" cy="0"/>
          </a:xfrm>
          <a:prstGeom prst="line">
            <a:avLst/>
          </a:prstGeom>
          <a:noFill/>
          <a:ln w="12700">
            <a:solidFill>
              <a:srgbClr val="E2EA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712464"/>
            <a:ext cx="235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Безработица — важнейший предиктор (26%), что соответствует закону Оукена. МНК исключил её из-за мультиколлинеарности и потерял ключевой сигнал.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27832" y="2779776"/>
            <a:ext cx="2633472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C0CCE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27832" y="2779776"/>
            <a:ext cx="2633472" cy="64008"/>
          </a:xfrm>
          <a:prstGeom prst="roundRect">
            <a:avLst>
              <a:gd name="adj" fmla="val 114286"/>
            </a:avLst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3364992" y="290779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364992" y="3236976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ограничение — внешние шоки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364992" y="3648456"/>
            <a:ext cx="2359152" cy="0"/>
          </a:xfrm>
          <a:prstGeom prst="line">
            <a:avLst/>
          </a:prstGeom>
          <a:noFill/>
          <a:ln w="12700">
            <a:solidFill>
              <a:srgbClr val="E2EA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64992" y="3712464"/>
            <a:ext cx="235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крупнейших ошибки (2009, 2015, 2022) — это внешние шоки: мировой кризис, девальвация-2015, санкции. Зависимость от РФ и энергоносителей не представлена в данных.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44184" y="2779776"/>
            <a:ext cx="2633472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C0CCE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44184" y="2779776"/>
            <a:ext cx="2633472" cy="64008"/>
          </a:xfrm>
          <a:prstGeom prst="roundRect">
            <a:avLst>
              <a:gd name="adj" fmla="val 114286"/>
            </a:avLst>
          </a:prstGeom>
          <a:solidFill>
            <a:srgbClr val="1A2133"/>
          </a:solidFill>
          <a:ln/>
        </p:spPr>
      </p:sp>
      <p:sp>
        <p:nvSpPr>
          <p:cNvPr id="37" name="Text 35"/>
          <p:cNvSpPr/>
          <p:nvPr/>
        </p:nvSpPr>
        <p:spPr>
          <a:xfrm>
            <a:off x="6181344" y="290779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181344" y="3236976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Практическая рекомендация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81344" y="3648456"/>
            <a:ext cx="2359152" cy="0"/>
          </a:xfrm>
          <a:prstGeom prst="line">
            <a:avLst/>
          </a:prstGeom>
          <a:noFill/>
          <a:ln w="12700">
            <a:solidFill>
              <a:srgbClr val="E2EAF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81344" y="3712464"/>
            <a:ext cx="235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МНК — для интерпретации и политических выводов. RF — для максимальной точности прогноза. Включение внешних факторов (цены на нефть, динамика ВВП РФ) — приоритет для будущих моделей.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E4D8C"/>
          </a:solidFill>
          <a:ln/>
        </p:spPr>
      </p:sp>
      <p:sp>
        <p:nvSpPr>
          <p:cNvPr id="42" name="Text 40"/>
          <p:cNvSpPr/>
          <p:nvPr/>
        </p:nvSpPr>
        <p:spPr>
          <a:xfrm>
            <a:off x="182880" y="4873752"/>
            <a:ext cx="877824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Жуковский А.В.  ·  БГУ, Экономический факультет  ·  21 мая 2026 г.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2026-05-19T17:19:42Z</dcterms:created>
  <dcterms:modified xsi:type="dcterms:W3CDTF">2026-05-19T17:19:42Z</dcterms:modified>
</cp:coreProperties>
</file>